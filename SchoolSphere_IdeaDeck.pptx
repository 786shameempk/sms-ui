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DECK  |  STARTUP MISSION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SchoolSphere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2402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F2A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whole school, in one place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4747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5156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34747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15468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66344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3474720"/>
            <a:ext cx="365760" cy="3657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25780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modules, one platform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6766560" y="324612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0" y="3474720"/>
            <a:ext cx="365760" cy="365760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360920" y="3246120"/>
            <a:ext cx="1234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400" dirty="0"/>
          </a:p>
        </p:txBody>
      </p:sp>
      <p:sp>
        <p:nvSpPr>
          <p:cNvPr id="17" name="Text 11"/>
          <p:cNvSpPr txBox="1"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school management for Kerala and beyond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 &amp; The Innovator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1600200"/>
            <a:ext cx="640080" cy="6400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3060" y="176022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Innovation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of the Idea / Product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SMS-SchoolSphere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cloud school management platform that connects management, teachers, parents and students.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9184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7680" y="1600200"/>
            <a:ext cx="640080" cy="6400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7602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47472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Innovator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347472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Innovator (Team Lead)</a:t>
            </a:r>
            <a:endParaRPr lang="en-US" sz="1200" dirty="0"/>
          </a:p>
        </p:txBody>
      </p:sp>
      <p:sp>
        <p:nvSpPr>
          <p:cNvPr id="15" name="Text 11"/>
          <p:cNvSpPr txBox="1"/>
          <p:nvPr/>
        </p:nvSpPr>
        <p:spPr>
          <a:xfrm>
            <a:off x="347472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Shameem P K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52044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and product builder of SchoolSphere.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26480" y="1371600"/>
            <a:ext cx="2651760" cy="310896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132320" y="1600200"/>
            <a:ext cx="640080" cy="64008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0" y="176022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309360" y="23774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200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2788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6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Team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6309360" y="3063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members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355080" y="35204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Shameem plus 3 more active team members.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Platform, Three Superpowers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81328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18488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2588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2402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Early-warning flags for students at risk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AI-drafted parent messages and report comments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AI assistant inside the product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520440" y="1481328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18488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052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Mobile-first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2402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&amp; Parent, Teacher and Staff apps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and deep links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attendance for teachers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651760" cy="3246120"/>
          </a:xfrm>
          <a:prstGeom prst="roundRect">
            <a:avLst>
              <a:gd name="adj" fmla="val 4138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355080" y="1481328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184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995160" y="1481328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All-in-one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240280"/>
            <a:ext cx="22402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modules behind one login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user sees only what they need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Multi-branch, with your school's brand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Statement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FF3F0"/>
          </a:solidFill>
          <a:ln w="12700">
            <a:solidFill>
              <a:srgbClr val="FFF3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463040"/>
            <a:ext cx="457200" cy="457200"/>
          </a:xfrm>
          <a:prstGeom prst="ellipse">
            <a:avLst/>
          </a:prstGeom>
          <a:solidFill>
            <a:srgbClr val="E5533D"/>
          </a:solidFill>
          <a:ln w="12700">
            <a:solidFill>
              <a:srgbClr val="E5533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" y="157734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463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5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3429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juggle separate tools for fees, attendance, exams and admissions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chase information by phone calls and paper notes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has no real-time view across branches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stored, but never turned into early action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832" y="2697480"/>
            <a:ext cx="402336" cy="4023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846320" y="1280160"/>
            <a:ext cx="3840480" cy="3246120"/>
          </a:xfrm>
          <a:prstGeom prst="roundRect">
            <a:avLst>
              <a:gd name="adj" fmla="val 338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5074920" y="14630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9220" y="15773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669280" y="14630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SchoolSphere Solves It</a:t>
            </a:r>
            <a:endParaRPr lang="en-US" sz="1800" dirty="0"/>
          </a:p>
        </p:txBody>
      </p:sp>
      <p:sp>
        <p:nvSpPr>
          <p:cNvPr id="13" name="Text 8"/>
          <p:cNvSpPr txBox="1"/>
          <p:nvPr/>
        </p:nvSpPr>
        <p:spPr>
          <a:xfrm>
            <a:off x="5074920" y="2103120"/>
            <a:ext cx="3429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 platform for every school process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and students get their own mobile apps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for principals and owners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at-risk students and drafts the follow-up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 Modules, One Platform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Students, Timetable, Exams &amp; Results, Online Exams, Lesson &amp; Portions, Homework, Admissions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6432" y="137160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management, Online fee payment, Accounting, Staff &amp; Payroll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91072" y="137160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Campus Operations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Attendance, Transport, Hostel, Library, Inventory, Visitors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306324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People &amp; Records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Teachers, Health records, Certificates, Users &amp; Roles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6432" y="306324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Announcements, Parent portal, Meetings, Surveys, Help desk, Calendar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91072" y="3063240"/>
            <a:ext cx="457200" cy="45720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72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Activities &amp; Learning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9107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Extra-curricular, Talents, Study materials, Online classes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Management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41732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55448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Fees, payroll, accounts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branches at a glance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212598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628900" y="141732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6060" y="155448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17170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21742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marks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lesson plans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379476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97680" y="141732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384048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388620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&amp; results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dues &amp; payment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Notices &amp; messages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6354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66460" y="141732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3620" y="155448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50926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55498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&amp; materials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exams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calendar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7132320" y="128016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7635240" y="141732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15544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178040" y="2057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7223760" y="2468880"/>
            <a:ext cx="1371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front desk, gate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Accounts, inventory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Permission-driven screens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7200" y="397764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142232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1097280" y="3977640"/>
            <a:ext cx="7406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one platform: permissions decide what each role sees and can do, on web and mobile.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Students &amp; Attendance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Student management: registration, classes, statu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23603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management: registration, classes, status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001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Attendance: manual, QR, biometric or mobile captu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03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Attendance: manual, QR, biometric or mobile capture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Fees &amp; Library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Fee management: structures, invoices, receip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23603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 management: structures, invoices, receipts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001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Library: catalog, copies, issue and retur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03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Library: catalog, copies, issue and return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Product: Secure Sign-in &amp; AI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0233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Image 0" descr="One secure login for every rol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931920" cy="236030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secure login for every role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00016" y="1316736"/>
            <a:ext cx="4041648" cy="2470031"/>
          </a:xfrm>
          <a:prstGeom prst="roundRect">
            <a:avLst>
              <a:gd name="adj" fmla="val 2962"/>
            </a:avLst>
          </a:prstGeom>
          <a:solidFill>
            <a:srgbClr val="FFFFFF"/>
          </a:solidFill>
          <a:ln w="12700">
            <a:solidFill>
              <a:srgbClr val="C9D6E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Image 1" descr="AI features: Ask AI, insights, at-risk studen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3931920" cy="236030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754880" y="3960503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features: Ask AI, insights, at-risk students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That Puts Data to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" y="137160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" y="1485900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Warning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2179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students who need attention from attendance, marks and overdue fees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56432" y="137160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1485900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02336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Insights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5643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across attendance, academics, fees and admissions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291072" y="137160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5372" y="1485900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8580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Parent Messages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91072" y="192024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fee reminders and attendance-concern notes in seconds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45720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21792" y="30632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" y="3177540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 Comments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2179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Report-card remarks and recognition notes, written fast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29184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56432" y="30632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0732" y="3177540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02336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AI Assistant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5643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how-to questions right inside the product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126480" y="2926080"/>
            <a:ext cx="2651760" cy="1554480"/>
          </a:xfrm>
          <a:prstGeom prst="roundRect">
            <a:avLst>
              <a:gd name="adj" fmla="val 5882"/>
            </a:avLst>
          </a:prstGeom>
          <a:solidFill>
            <a:srgbClr val="16305A"/>
          </a:solidFill>
          <a:ln w="12700">
            <a:solidFill>
              <a:srgbClr val="16305A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291072" y="3063240"/>
            <a:ext cx="457200" cy="45720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5372" y="3177540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858000" y="30632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Support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91072" y="3611880"/>
            <a:ext cx="2322576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5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content, study help and voice input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Apps for Everyone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51760" cy="27432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&amp; Parent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5603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and results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 and online exams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and notices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34440"/>
            <a:ext cx="2651760" cy="27432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340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66160" y="25603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attendance, even offline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online exams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attendance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34440"/>
            <a:ext cx="2651760" cy="2743200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38100">
            <a:solidFill>
              <a:srgbClr val="0B1F3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7804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0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Staff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0" y="2560320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front desk, gate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and inventory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follow permissions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41605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codebase for iOS and Android  |  Push notifications  |  Secure sign-in with role checks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Opportunity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is our audience?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4846320" cy="841248"/>
          </a:xfrm>
          <a:prstGeom prst="roundRect">
            <a:avLst>
              <a:gd name="adj" fmla="val 1087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1792" y="1847088"/>
            <a:ext cx="530352" cy="530352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979676"/>
            <a:ext cx="265176" cy="26517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69164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and aided schools in Kerala, with English and Malayalam support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651760"/>
            <a:ext cx="4846320" cy="841248"/>
          </a:xfrm>
          <a:prstGeom prst="roundRect">
            <a:avLst>
              <a:gd name="adj" fmla="val 1087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1792" y="2807208"/>
            <a:ext cx="530352" cy="530352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" y="2939796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25880" y="265176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Multi-branch trusts, management groups and school chains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457200" y="3611880"/>
            <a:ext cx="4846320" cy="841248"/>
          </a:xfrm>
          <a:prstGeom prst="roundRect">
            <a:avLst>
              <a:gd name="adj" fmla="val 10870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1792" y="3767328"/>
            <a:ext cx="530352" cy="530352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" y="3899916"/>
            <a:ext cx="265176" cy="26517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25880" y="3611880"/>
            <a:ext cx="3840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7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Scale: 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across other states and boards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5577840" y="1234440"/>
            <a:ext cx="3108960" cy="3291840"/>
          </a:xfrm>
          <a:prstGeom prst="roundRect">
            <a:avLst>
              <a:gd name="adj" fmla="val 352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5806440" y="13716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B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now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5806440" y="1874520"/>
            <a:ext cx="27432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expect mobile-first updates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want one system, not five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makes data actionable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removes servers and IT cost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1463040"/>
            <a:ext cx="548640" cy="54864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0" y="160020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subscription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school, scaled by students, branches and modules enabled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29184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343400" y="146304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60020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7472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352044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data migration, staff training and branded letterheads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126480" y="12801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178040" y="1463040"/>
            <a:ext cx="548640" cy="54864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60020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09360" y="21031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Premium add-ons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56032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features, extra mobile apps, messaging and online payments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384048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revenue, low cost to serve: one cloud platform, every school on the same release.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Current Status of the Product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built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4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experiences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1325880"/>
          </a:xfrm>
          <a:prstGeom prst="roundRect">
            <a:avLst>
              <a:gd name="adj" fmla="val 8276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37160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48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services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working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3154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platform, live demo available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and Ask AI assistant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 with online fee payment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7889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DB6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0" y="315468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partner schools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apps on the app stores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AI and reporting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320040"/>
            <a:ext cx="8412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Details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51560" y="1600200"/>
            <a:ext cx="731520" cy="731520"/>
          </a:xfrm>
          <a:prstGeom prst="ellipse">
            <a:avLst/>
          </a:prstGeom>
          <a:solidFill>
            <a:srgbClr val="067FF2"/>
          </a:solidFill>
          <a:ln w="12700">
            <a:solidFill>
              <a:srgbClr val="067FF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783080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Shameem P K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Team Lead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56032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54680" y="1600200"/>
            <a:ext cx="731520" cy="73152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5176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[Member 2]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65176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466344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5257800" y="1600200"/>
            <a:ext cx="731520" cy="73152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178308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75488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[Member 3]</a:t>
            </a:r>
            <a:endParaRPr lang="en-US" sz="1800" dirty="0"/>
          </a:p>
        </p:txBody>
      </p:sp>
      <p:sp>
        <p:nvSpPr>
          <p:cNvPr id="17" name="Text 12"/>
          <p:cNvSpPr txBox="1"/>
          <p:nvPr/>
        </p:nvSpPr>
        <p:spPr>
          <a:xfrm>
            <a:off x="475488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766560" y="1371600"/>
            <a:ext cx="1920240" cy="2468880"/>
          </a:xfrm>
          <a:prstGeom prst="roundRect">
            <a:avLst>
              <a:gd name="adj" fmla="val 5714"/>
            </a:avLst>
          </a:prstGeom>
          <a:solidFill>
            <a:srgbClr val="F4FAF9"/>
          </a:solidFill>
          <a:ln w="12700">
            <a:solidFill>
              <a:srgbClr val="F4FAF9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60920" y="1600200"/>
            <a:ext cx="731520" cy="731520"/>
          </a:xfrm>
          <a:prstGeom prst="ellipse">
            <a:avLst/>
          </a:prstGeom>
          <a:solidFill>
            <a:srgbClr val="4DB6AC"/>
          </a:solidFill>
          <a:ln w="12700">
            <a:solidFill>
              <a:srgbClr val="4DB6A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178308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858000" y="2514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67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[Member 4]</a:t>
            </a:r>
            <a:endParaRPr lang="en-US" sz="1800" dirty="0"/>
          </a:p>
        </p:txBody>
      </p:sp>
      <p:sp>
        <p:nvSpPr>
          <p:cNvPr id="22" name="Text 16"/>
          <p:cNvSpPr txBox="1"/>
          <p:nvPr/>
        </p:nvSpPr>
        <p:spPr>
          <a:xfrm>
            <a:off x="685800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[Role]</a:t>
            </a:r>
            <a:endParaRPr lang="en-US" sz="14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A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active members, building and supporting SchoolSphere every day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7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!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745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SchoolSphere: school operations made simpler, smarter and more connected</a:t>
            </a:r>
            <a:endParaRPr lang="en-US" sz="1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2816352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200400" y="274320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+91 96560 40881 (Phone / WhatsApp)</a:t>
            </a:r>
            <a:endParaRPr lang="en-US" sz="1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3364992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3200400" y="329184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shameem@sms-schoolsphere.com</a:t>
            </a:r>
            <a:endParaRPr lang="en-US" sz="16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3913632"/>
            <a:ext cx="274320" cy="274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200400" y="3840480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www.sms-schoolsphere.com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SchoolSphere - Idea Deck</dc:title>
  <dc:subject>PptxGenJS Presentation</dc:subject>
  <dc:creator>SchoolSphere</dc:creator>
  <cp:lastModifiedBy>SchoolSphere</cp:lastModifiedBy>
  <cp:revision>1</cp:revision>
  <dcterms:created xsi:type="dcterms:W3CDTF">2026-10-13T18:00:43Z</dcterms:created>
  <dcterms:modified xsi:type="dcterms:W3CDTF">2026-10-13T18:00:43Z</dcterms:modified>
</cp:coreProperties>
</file>